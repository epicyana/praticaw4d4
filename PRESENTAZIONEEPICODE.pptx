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51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Strutture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A2733"/>
                    </a:solidFill>
                    <a:latin typeface="Arial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B&amp;B</c:v>
                </c:pt>
                <c:pt idx="1">
                  <c:v>Stab. balneari</c:v>
                </c:pt>
                <c:pt idx="2">
                  <c:v>Agriturismi</c:v>
                </c:pt>
                <c:pt idx="3">
                  <c:v>Alberghi</c:v>
                </c:pt>
                <c:pt idx="4">
                  <c:v>Altri priv.</c:v>
                </c:pt>
                <c:pt idx="5">
                  <c:v>Affitto</c:v>
                </c:pt>
                <c:pt idx="6">
                  <c:v>Rurale</c:v>
                </c:pt>
                <c:pt idx="7">
                  <c:v>Campeggi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1808</c:v>
                </c:pt>
                <c:pt idx="1">
                  <c:v>848</c:v>
                </c:pt>
                <c:pt idx="2">
                  <c:v>829</c:v>
                </c:pt>
                <c:pt idx="3">
                  <c:v>814</c:v>
                </c:pt>
                <c:pt idx="4">
                  <c:v>719</c:v>
                </c:pt>
                <c:pt idx="5">
                  <c:v>540</c:v>
                </c:pt>
                <c:pt idx="6">
                  <c:v>303</c:v>
                </c:pt>
                <c:pt idx="7">
                  <c:v>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D6-4133-8BCA-18B62D20090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27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3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N. città</c:v>
                </c:pt>
              </c:strCache>
            </c:strRef>
          </c:tx>
          <c:spPr>
            <a:solidFill>
              <a:srgbClr val="E8871E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2733"/>
                    </a:solidFill>
                    <a:latin typeface="Arial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30-50</c:v>
                </c:pt>
                <c:pt idx="1">
                  <c:v>50-70</c:v>
                </c:pt>
                <c:pt idx="2">
                  <c:v>70-90</c:v>
                </c:pt>
                <c:pt idx="3">
                  <c:v>90-110</c:v>
                </c:pt>
                <c:pt idx="4">
                  <c:v>110-130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</c:v>
                </c:pt>
                <c:pt idx="1">
                  <c:v>55</c:v>
                </c:pt>
                <c:pt idx="2">
                  <c:v>49</c:v>
                </c:pt>
                <c:pt idx="3">
                  <c:v>42</c:v>
                </c:pt>
                <c:pt idx="4">
                  <c:v>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6F0-4FD9-9E4A-C263EF9052E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7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scatterChart>
        <c:scatterStyle val="lineMarker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3E9E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N. strutture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9E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Prezzo medio (€)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1215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0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 MARCHE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Patrimonio Ricettivo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3429000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dato grezzo al modello dati pulito: integrazione in Power Query e analisi statistica dei prezzi medi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45720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8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6.250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519379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strutture ricettive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611880" y="45720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8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234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611880" y="519379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città coperte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0" y="45720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8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6400800" y="519379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 Marche — Patrimonio Ricettivo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punto di partenza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file grezzi, con problemi tipici di dati amministrativi non curati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120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E3E9ED"/>
            </a:solidFill>
            <a:prstDash val="solid"/>
          </a:ln>
          <a:effectLst>
            <a:outerShdw blurRad="101600" dist="38100" dir="5400000" algn="bl" rotWithShape="0">
              <a:srgbClr val="8797A3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960120" y="201168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6" name="Image 0" descr="/home/claude/deck/icon_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21" y="2159081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574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Elenco Strutture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404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6.258 righe grezze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960120" y="2999232"/>
            <a:ext cx="82296" cy="8229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7"/>
          <p:cNvSpPr/>
          <p:nvPr/>
        </p:nvSpPr>
        <p:spPr>
          <a:xfrm>
            <a:off x="1170432" y="2871216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Spazi doppi e superflui in indirizzi e denominazioni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60120" y="3639312"/>
            <a:ext cx="82296" cy="8229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1170432" y="3511296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righe duplicate (stessa struttura inserita più volte)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960120" y="4279392"/>
            <a:ext cx="82296" cy="8229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1"/>
          <p:cNvSpPr/>
          <p:nvPr/>
        </p:nvSpPr>
        <p:spPr>
          <a:xfrm>
            <a:off x="1170432" y="4151376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multiple nella stessa cella ("a@x.it ; b@y.it")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60120" y="4919472"/>
            <a:ext cx="82296" cy="8229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1170432" y="4791456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 web ed email finiti per errore nella colonna sbagliata (es. un sito dentro "Località")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60120" y="5559552"/>
            <a:ext cx="82296" cy="8229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1170432" y="5431536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Migliaia di celle vuote (indirizzo, sito, email non censiti)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309360" y="1691640"/>
            <a:ext cx="52120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E3E9ED"/>
            </a:solidFill>
            <a:prstDash val="solid"/>
          </a:ln>
          <a:effectLst>
            <a:outerShdw blurRad="101600" dist="38100" dir="5400000" algn="bl" rotWithShape="0">
              <a:srgbClr val="8797A3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0" name="Shape 17"/>
          <p:cNvSpPr/>
          <p:nvPr/>
        </p:nvSpPr>
        <p:spPr>
          <a:xfrm>
            <a:off x="6629400" y="2011680"/>
            <a:ext cx="566928" cy="566928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1" name="Image 1" descr="/home/claude/deck/icon_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6801" y="2159081"/>
            <a:ext cx="272125" cy="272125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360920" y="20574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Prezzi Medi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7360920" y="2404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 righe grezze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629400" y="2999232"/>
            <a:ext cx="82296" cy="8229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5" name="Text 21"/>
          <p:cNvSpPr/>
          <p:nvPr/>
        </p:nvSpPr>
        <p:spPr>
          <a:xfrm>
            <a:off x="6839712" y="2871216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Intestazione vera nascosta in riga 5 (righe 1-4 sono scarti)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6629400" y="3639312"/>
            <a:ext cx="82296" cy="8229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7" name="Text 23"/>
          <p:cNvSpPr/>
          <p:nvPr/>
        </p:nvSpPr>
        <p:spPr>
          <a:xfrm>
            <a:off x="6839712" y="3511296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Colonna centrale completamente vuota da eliminare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629400" y="4279392"/>
            <a:ext cx="82296" cy="8229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9" name="Text 25"/>
          <p:cNvSpPr/>
          <p:nvPr/>
        </p:nvSpPr>
        <p:spPr>
          <a:xfrm>
            <a:off x="6839712" y="4151376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Righe vuote intramezzate come separatori</a:t>
            </a:r>
            <a:endParaRPr lang="en-US" sz="1250" dirty="0"/>
          </a:p>
        </p:txBody>
      </p:sp>
      <p:sp>
        <p:nvSpPr>
          <p:cNvPr id="30" name="Shape 26"/>
          <p:cNvSpPr/>
          <p:nvPr/>
        </p:nvSpPr>
        <p:spPr>
          <a:xfrm>
            <a:off x="6629400" y="4919472"/>
            <a:ext cx="82296" cy="8229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1" name="Text 27"/>
          <p:cNvSpPr/>
          <p:nvPr/>
        </p:nvSpPr>
        <p:spPr>
          <a:xfrm>
            <a:off x="6839712" y="4791456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problema di città (già maiuscolo e coerente)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309360" y="5486400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incrociata: le città dei due file coincidono al 100% (234 su 234) — base solida per un merge senza perdite</a:t>
            </a:r>
            <a:endParaRPr lang="en-US" sz="115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 Marche — Patrimonio Ricettivo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Pulizia con Power Query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trasformazione risolve un problema specifico individuato nei dati grezzi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5" name="Image 0" descr="/home/claude/deck/icon_fil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182239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664208"/>
            <a:ext cx="9692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Trim + normalizzazione spazi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371600" y="1993392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Rimossi spazi doppi e superflui in denominazioni, indirizzi e località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2587752"/>
            <a:ext cx="502920" cy="502920"/>
          </a:xfrm>
          <a:prstGeom prst="ellipse">
            <a:avLst/>
          </a:prstGeom>
          <a:solidFill>
            <a:srgbClr val="0F3057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9" name="Image 1" descr="/home/claude/deck/icon_fil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2718511"/>
            <a:ext cx="241402" cy="24140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2560320"/>
            <a:ext cx="9692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Rimozione duplicati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371600" y="2889504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 le righe con stessa Denominazione + Indirizzo + Città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40080" y="3483864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3" name="Image 2" descr="/home/claude/deck/icon_fil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3614623"/>
            <a:ext cx="241402" cy="24140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3456432"/>
            <a:ext cx="9692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Correzione dati fuori posto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1371600" y="3785616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 web ed email finiti nella colonna sbagliata (Località, Indirizzo internet) spostati nella colonna corretta con colonne personalizzate in linguaggio M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40080" y="4379976"/>
            <a:ext cx="502920" cy="502920"/>
          </a:xfrm>
          <a:prstGeom prst="ellipse">
            <a:avLst/>
          </a:prstGeom>
          <a:solidFill>
            <a:srgbClr val="0F3057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7" name="Image 3" descr="/home/claude/deck/icon_fil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4510735"/>
            <a:ext cx="241402" cy="24140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71600" y="4352544"/>
            <a:ext cx="9692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 email multiple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1371600" y="4681728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Celle con più indirizzi separati da ; o , divise: tenuta la prima email, flag "Email_multiple" per le altre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40080" y="5276088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1" name="Image 4" descr="/home/claude/deck/icon_fil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406847"/>
            <a:ext cx="241402" cy="24140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371600" y="5248656"/>
            <a:ext cx="9692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Tipizzazione e ricostruzione header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1371600" y="557784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file prezzi: rimosse righe di scarto, ricostruita l'intestazione vera, tipizzati Città (testo) e Prezzo medio (numero)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8732520" y="1691640"/>
            <a:ext cx="2834640" cy="777240"/>
          </a:xfrm>
          <a:prstGeom prst="roundRect">
            <a:avLst>
              <a:gd name="adj" fmla="val 7059"/>
            </a:avLst>
          </a:prstGeom>
          <a:solidFill>
            <a:srgbClr val="0F305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5" name="Text 18"/>
          <p:cNvSpPr/>
          <p:nvPr/>
        </p:nvSpPr>
        <p:spPr>
          <a:xfrm>
            <a:off x="8732520" y="17556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6.258 → 6.250</a:t>
            </a:r>
            <a:endParaRPr lang="en-US" sz="1600" dirty="0"/>
          </a:p>
        </p:txBody>
      </p:sp>
      <p:sp>
        <p:nvSpPr>
          <p:cNvPr id="26" name="Text 19"/>
          <p:cNvSpPr/>
          <p:nvPr/>
        </p:nvSpPr>
        <p:spPr>
          <a:xfrm>
            <a:off x="8732520" y="212140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righe pulite</a:t>
            </a:r>
            <a:endParaRPr lang="en-US" sz="1050" dirty="0"/>
          </a:p>
        </p:txBody>
      </p:sp>
      <p:sp>
        <p:nvSpPr>
          <p:cNvPr id="27" name="Text 2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 Marche — Patrimonio Ricettivo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Costruzione del modello dati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Strutture ↔ Prezzi e raggruppamenti caricati nel Modello dati di Excel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2743200" cy="1005840"/>
          </a:xfrm>
          <a:prstGeom prst="roundRect">
            <a:avLst>
              <a:gd name="adj" fmla="val 6364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Strutture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6.250 righe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2743200" cy="1005840"/>
          </a:xfrm>
          <a:prstGeom prst="roundRect">
            <a:avLst>
              <a:gd name="adj" fmla="val 6364"/>
            </a:avLst>
          </a:prstGeom>
          <a:solidFill>
            <a:srgbClr val="E8871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Prezzi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234 città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794760" y="2514600"/>
            <a:ext cx="685800" cy="685800"/>
          </a:xfrm>
          <a:prstGeom prst="ellipse">
            <a:avLst/>
          </a:prstGeom>
          <a:solidFill>
            <a:srgbClr val="0F3057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9" name="Image 0" descr="/home/claude/deck/icon_l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3068" y="2692908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520440" y="3291840"/>
            <a:ext cx="1234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3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F3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F3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892040" y="2423160"/>
            <a:ext cx="2880360" cy="1005840"/>
          </a:xfrm>
          <a:prstGeom prst="roundRect">
            <a:avLst>
              <a:gd name="adj" fmla="val 6364"/>
            </a:avLst>
          </a:prstGeom>
          <a:solidFill>
            <a:srgbClr val="0F305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4892040" y="2423160"/>
            <a:ext cx="2880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Modello unito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6.250 righe con prezzo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092440" y="2011680"/>
            <a:ext cx="36576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Left Outer e non Inner: tiene sempre tutte le strutture, anche se una città restasse senza prezzo (qui non succede: copertura 234/234, zero valori nulli) — un Inner join avrebbe rischiato di far sparire righe in silenzio.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3977640"/>
            <a:ext cx="10881360" cy="0"/>
          </a:xfrm>
          <a:prstGeom prst="line">
            <a:avLst/>
          </a:prstGeom>
          <a:noFill/>
          <a:ln w="12700">
            <a:solidFill>
              <a:srgbClr val="D8E0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Shape 12"/>
          <p:cNvSpPr/>
          <p:nvPr/>
        </p:nvSpPr>
        <p:spPr>
          <a:xfrm>
            <a:off x="640080" y="42062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6" name="Image 1" descr="/home/claude/deck/icon_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39" y="4336999"/>
            <a:ext cx="241402" cy="24140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37160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Raggruppamenti (Group By) nel Modello dati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1371600" y="45720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query di riepilogo create come Riferimento alla query Strutture, poi caricate "solo connessione" nel Modello dati (Power Pivot):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1371600" y="5029200"/>
            <a:ext cx="44805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8E0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6"/>
          <p:cNvSpPr/>
          <p:nvPr/>
        </p:nvSpPr>
        <p:spPr>
          <a:xfrm>
            <a:off x="1554480" y="510235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Conteggio_per_Città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554480" y="541324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 righe · somma = 6.250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126480" y="5029200"/>
            <a:ext cx="44805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8E0E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19"/>
          <p:cNvSpPr/>
          <p:nvPr/>
        </p:nvSpPr>
        <p:spPr>
          <a:xfrm>
            <a:off x="6309360" y="510235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Conteggio_per_Categoria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6309360" y="541324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righe · somma = 6.250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 Marche — Patrimonio Ricettivo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Strumenti di ricerca e sintesi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foglio interattivo per interrogare i dati, senza toccare le tabelle sorgente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02920" cy="502920"/>
          </a:xfrm>
          <a:prstGeom prst="ellipse">
            <a:avLst/>
          </a:prstGeom>
          <a:solidFill>
            <a:srgbClr val="0F3057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5" name="Image 0" descr="/home/claude/deck/icon_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186811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737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Foglio RICERCA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1371600" y="2313432"/>
            <a:ext cx="82296" cy="8229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5"/>
          <p:cNvSpPr/>
          <p:nvPr/>
        </p:nvSpPr>
        <p:spPr>
          <a:xfrm>
            <a:off x="1581912" y="2185416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a tendina sul nome struttura (Convalida dati → Elenco)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1371600" y="2880360"/>
            <a:ext cx="82296" cy="8229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7"/>
          <p:cNvSpPr/>
          <p:nvPr/>
        </p:nvSpPr>
        <p:spPr>
          <a:xfrm>
            <a:off x="1581912" y="2752344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+ CONFRONTA recuperano Città, Indirizzo, Email, Sito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371600" y="3447288"/>
            <a:ext cx="82296" cy="8229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1581912" y="3319272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IFERROR gestisce il caso "struttura non trovata"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0" y="4014216"/>
            <a:ext cx="82296" cy="8229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1"/>
          <p:cNvSpPr/>
          <p:nvPr/>
        </p:nvSpPr>
        <p:spPr>
          <a:xfrm>
            <a:off x="1581912" y="388620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Celle grigie: totale regionale (6.250) e strutture nella città cercata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0" y="464515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Tabella strutturata per città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371600" y="5056632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le 4 strutture di Bolognola estratte, ordinate per categoria, dentro una vera Tabella Excel (Ctrl+T)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00800" y="17373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 ordinate per numero di strutture</a:t>
            </a:r>
            <a:endParaRPr lang="en-US" sz="1300" dirty="0"/>
          </a:p>
        </p:txBody>
      </p:sp>
      <p:graphicFrame>
        <p:nvGraphicFramePr>
          <p:cNvPr id="18" name="Chart 0"/>
          <p:cNvGraphicFramePr/>
          <p:nvPr/>
        </p:nvGraphicFramePr>
        <p:xfrm>
          <a:off x="6309360" y="2103120"/>
          <a:ext cx="52120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9" name="Text 1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 Marche — Patrimonio Ricettivo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Statistica descrittiva dei prezzi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Prezzo medio per città: 234 osservazioni, un range di 30€–120€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146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3E9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F30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73,5 €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39572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691640"/>
            <a:ext cx="25146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3E9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3291840" y="18288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F30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73,5 €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291840" y="239572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0" y="1691640"/>
            <a:ext cx="25146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3E9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5943600" y="18288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F30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27,46 €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943600" y="239572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Dev. standard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95360" y="1691640"/>
            <a:ext cx="25146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3E9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8595360" y="18288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F30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46,75 €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595360" y="239572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 (Q3−Q1)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06324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i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e mediana quasi identiche → distribuzione simmetrica, coerente con un dataset di prezzi quasi uniforme tra 30€ e 120€ (nessuna coda pesante).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40233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Regola di Tukey (1,5×IQR): limiti [-19,9 ; 167,1] — nessuna città anomala rilevata: il minimo (30€) e il massimo (120€) rientrano comodamente nell'intervallo.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943600" y="169164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Distribuzione dei prezzi per classi da 20€ — classe modale: 30-50€</a:t>
            </a:r>
            <a:endParaRPr lang="en-US" sz="1250" dirty="0"/>
          </a:p>
        </p:txBody>
      </p:sp>
      <p:graphicFrame>
        <p:nvGraphicFramePr>
          <p:cNvPr id="19" name="Chart 0"/>
          <p:cNvGraphicFramePr/>
          <p:nvPr/>
        </p:nvGraphicFramePr>
        <p:xfrm>
          <a:off x="5760720" y="2103120"/>
          <a:ext cx="576072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 Marche — Patrimonio Ricettivo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Probabilità e intervalli di confidenza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 frequenza delle categorie alla stima del vero prezzo medio regionale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5" name="Image 0" descr="/home/claude/deck/icon_d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186811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737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Probabilità sulle categorie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71600" y="2286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P(Albergo)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480560" y="228600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F3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13,0%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371600" y="27432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P(Bed &amp; Breakfast)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480560" y="274320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F3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28,9%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371600" y="32004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P(2 alberghi indipendenti)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480560" y="320040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F3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1,70%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371600" y="379476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Regola empirica della normale (±1σ / ±2σ): la quota osservata (55,6% / 100%) si discosta da quella teorica (68,3% / 95,5%) — ulteriore conferma di una distribuzione più piatta di una vera normale.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0" y="1737360"/>
            <a:ext cx="502920" cy="50292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5" name="Image 1" descr="/home/claude/deck/icon_chart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1559" y="1868119"/>
            <a:ext cx="241402" cy="24140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0" y="1737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Intervallo di confidenza sulla media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7132320" y="23317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Livello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8138160" y="2331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Intervallo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10424160" y="23317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Ampiezza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7086600" y="2660904"/>
            <a:ext cx="4526280" cy="438912"/>
          </a:xfrm>
          <a:prstGeom prst="rect">
            <a:avLst/>
          </a:prstGeom>
          <a:solidFill>
            <a:srgbClr val="F7F9F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Text 17"/>
          <p:cNvSpPr/>
          <p:nvPr/>
        </p:nvSpPr>
        <p:spPr>
          <a:xfrm>
            <a:off x="7132320" y="269748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8138160" y="26974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70,54 € – 76,46 €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10424160" y="26974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5,92 €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7086600" y="3163824"/>
            <a:ext cx="4526280" cy="438912"/>
          </a:xfrm>
          <a:prstGeom prst="rect">
            <a:avLst/>
          </a:prstGeom>
          <a:solidFill>
            <a:srgbClr val="E9F1F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5" name="Text 21"/>
          <p:cNvSpPr/>
          <p:nvPr/>
        </p:nvSpPr>
        <p:spPr>
          <a:xfrm>
            <a:off x="7132320" y="32004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8138160" y="32004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69,97 € – 77,03 €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10424160" y="32004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F3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7,05 €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7086600" y="3666744"/>
            <a:ext cx="4526280" cy="438912"/>
          </a:xfrm>
          <a:prstGeom prst="rect">
            <a:avLst/>
          </a:prstGeom>
          <a:solidFill>
            <a:srgbClr val="F7F9F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9" name="Text 25"/>
          <p:cNvSpPr/>
          <p:nvPr/>
        </p:nvSpPr>
        <p:spPr>
          <a:xfrm>
            <a:off x="7132320" y="370332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8138160" y="37033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68,87 € – 78,13 €</a:t>
            </a:r>
            <a:endParaRPr lang="en-US" sz="1300" dirty="0"/>
          </a:p>
        </p:txBody>
      </p:sp>
      <p:sp>
        <p:nvSpPr>
          <p:cNvPr id="31" name="Text 27"/>
          <p:cNvSpPr/>
          <p:nvPr/>
        </p:nvSpPr>
        <p:spPr>
          <a:xfrm>
            <a:off x="10424160" y="37033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9,27 €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7132320" y="4343400"/>
            <a:ext cx="4526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alta la confidenza, più largo l'intervallo: quadruplicando la numerosità del campione il margine si dimezza (proporzionale a 1/√n).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 Marche — Patrimonio Ricettivo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C'è relazione tra dimensione e prezzo?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Correlazione, regressione lineare e un risultato onesto: no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02920" cy="502920"/>
          </a:xfrm>
          <a:prstGeom prst="ellipse">
            <a:avLst/>
          </a:prstGeom>
          <a:solidFill>
            <a:srgbClr val="0F3057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5" name="Image 0" descr="/home/claude/deck/icon_chart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186811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81051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Numero di strutture per città vs prezzo medio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04288"/>
            <a:ext cx="5120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5"/>
          <p:cNvSpPr/>
          <p:nvPr/>
        </p:nvSpPr>
        <p:spPr>
          <a:xfrm>
            <a:off x="822960" y="233172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Coefficiente di correlazione (r)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114800" y="233172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F3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0,0044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" y="2834640"/>
            <a:ext cx="5120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8"/>
          <p:cNvSpPr/>
          <p:nvPr/>
        </p:nvSpPr>
        <p:spPr>
          <a:xfrm>
            <a:off x="822960" y="2862072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114800" y="286207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F3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0,00002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0080" y="3364992"/>
            <a:ext cx="5120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1"/>
          <p:cNvSpPr/>
          <p:nvPr/>
        </p:nvSpPr>
        <p:spPr>
          <a:xfrm>
            <a:off x="822960" y="3392424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Significatività F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0" y="3392424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F3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0,946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40080" y="3895344"/>
            <a:ext cx="5120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4"/>
          <p:cNvSpPr/>
          <p:nvPr/>
        </p:nvSpPr>
        <p:spPr>
          <a:xfrm>
            <a:off x="822960" y="3922776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Equazione della retta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4114800" y="3922776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F3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0,0024x + 73,44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4590288"/>
            <a:ext cx="5120640" cy="1600200"/>
          </a:xfrm>
          <a:prstGeom prst="roundRect">
            <a:avLst>
              <a:gd name="adj" fmla="val 4000"/>
            </a:avLst>
          </a:prstGeom>
          <a:solidFill>
            <a:srgbClr val="0F305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Text 17"/>
          <p:cNvSpPr/>
          <p:nvPr/>
        </p:nvSpPr>
        <p:spPr>
          <a:xfrm>
            <a:off x="868680" y="4727448"/>
            <a:ext cx="46634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praticamente nullo e Sign. F ≈ 0,95 (&gt;&gt; 0,05): il modello non è statisticamente significativo. Il numero di strutture non predice il prezzo — le due variabili sono sostanzialmente indipendenti in questo dataset.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6263640" y="181051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Prezzo medio (asse Y) vs numero di strutture (asse X)</a:t>
            </a:r>
            <a:endParaRPr lang="en-US" sz="1250" dirty="0"/>
          </a:p>
        </p:txBody>
      </p:sp>
      <p:graphicFrame>
        <p:nvGraphicFramePr>
          <p:cNvPr id="22" name="Chart 0"/>
          <p:cNvGraphicFramePr/>
          <p:nvPr/>
        </p:nvGraphicFramePr>
        <p:xfrm>
          <a:off x="5943600" y="2194560"/>
          <a:ext cx="55778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3" name="Text 1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 Marche — Patrimonio Ricettivo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Struttura del file finale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Sette fogli, ciascuno con uno scopo preciso nel flusso dati → analisi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82296" cy="9144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" y="1764792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Strutture ricettive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2075688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Tabella sorgente pulita, 6.250 righe, con colonne di qualità (Sito_valido, Email_multiple) e prezzo collegato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5257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868680" y="2816352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prezzi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68680" y="3127248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 città con prezzo medio, intestazione ricostruita, tipizzata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5257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640080" y="3794760"/>
            <a:ext cx="82296" cy="9144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868680" y="3867912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RICERCA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68680" y="4178808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 interattiva per struttura: menu a tendina + recupero automatico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846320"/>
            <a:ext cx="5257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640080" y="4846320"/>
            <a:ext cx="82296" cy="914400"/>
          </a:xfrm>
          <a:prstGeom prst="rect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868680" y="4919472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Sintesi_Categorie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68680" y="5230368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15 categorie ordinate per numero di strutture (pivot sul Modello dati)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63640" y="1691640"/>
            <a:ext cx="5257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6263640" y="1691640"/>
            <a:ext cx="82296" cy="9144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6492240" y="1764792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Estrazione_Città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92240" y="2075688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 di tabella strutturata: strutture di una città, ordinate per categoria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2743200"/>
            <a:ext cx="5257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Shape 23"/>
          <p:cNvSpPr/>
          <p:nvPr/>
        </p:nvSpPr>
        <p:spPr>
          <a:xfrm>
            <a:off x="6263640" y="2743200"/>
            <a:ext cx="82296" cy="914400"/>
          </a:xfrm>
          <a:prstGeom prst="rect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6492240" y="2816352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tabelle di controllo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492240" y="3127248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 di verifica del raggruppamento per città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63640" y="3794760"/>
            <a:ext cx="5257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Shape 27"/>
          <p:cNvSpPr/>
          <p:nvPr/>
        </p:nvSpPr>
        <p:spPr>
          <a:xfrm>
            <a:off x="6263640" y="3794760"/>
            <a:ext cx="82296" cy="9144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6492240" y="3867912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Analisi_Prezzi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492240" y="4178808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L'intera analisi statistica: descrittiva, probabilità, IC, regressione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 Marche — Patrimonio Ricettivo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0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modello dati pulito, e un'analisi statistica onesta anche quando il risultato non è quello "atteso"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5" name="Image 0" descr="/home/claude/deck/icon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208483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94767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città anomale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508760" y="2295144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regola di Tukey non individua outlier: i prezzi sono distribuiti in modo sorprendentemente omogeneo (30€–120€, quasi uniforme)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22960" y="3017520"/>
            <a:ext cx="457200" cy="45720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9" name="Image 1" descr="/home/claude/deck/icon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13639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99923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Nessuna categoria influenza il prezzo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508760" y="3346704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Città con alberghi e città con agriturismi hanno prezzi medi statisticamente indistinguibili (differenza 0,39€, p-value 0,90)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822960" y="4069080"/>
            <a:ext cx="457200" cy="45720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3" name="Image 2" descr="/home/claude/deck/icon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4187952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405079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Dimensione e prezzo sono indipendenti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1508760" y="4398264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praticamente zero: il numero di strutture di una città non predice affatto il suo prezzo medio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22960" y="5166360"/>
            <a:ext cx="10515600" cy="0"/>
          </a:xfrm>
          <a:prstGeom prst="line">
            <a:avLst/>
          </a:prstGeom>
          <a:noFill/>
          <a:ln w="12700">
            <a:solidFill>
              <a:srgbClr val="2E4A6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2"/>
          <p:cNvSpPr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complesso, i dati suggeriscono un dataset costruito per l'esercizio più che un mercato reale — un'osservazione statistica legittima quanto qualunque altra, ed è giusto riportarla così com'è.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 Marche — Patrimonio Ricettivo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1228</Words>
  <Application>Microsoft Office PowerPoint</Application>
  <PresentationFormat>Widescreen</PresentationFormat>
  <Paragraphs>174</Paragraphs>
  <Slides>10</Slides>
  <Notes>10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Yana Subotina</cp:lastModifiedBy>
  <cp:revision>1</cp:revision>
  <dcterms:created xsi:type="dcterms:W3CDTF">2026-08-01T21:34:57Z</dcterms:created>
  <dcterms:modified xsi:type="dcterms:W3CDTF">2026-08-01T21:41:56Z</dcterms:modified>
</cp:coreProperties>
</file>